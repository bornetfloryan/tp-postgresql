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2C6D8"/>
          </a:solidFill>
          <a:ln w="12700">
            <a:solidFill>
              <a:srgbClr val="42C6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66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2C6D8"/>
                </a:solidFill>
              </a:rPr>
              <a:t>TP POSTGRESQL · BUT3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1143000"/>
            <a:ext cx="6858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8FB"/>
                </a:solidFill>
              </a:rPr>
              <a:t>Administrer une base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6F8FB"/>
                </a:solidFill>
              </a:rPr>
              <a:t>multilingue, de bout en bout.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85800" y="294436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8C9"/>
                </a:solidFill>
              </a:rPr>
              <a:t>Création · Normalisation · Privilèges · Sauvegarde · Restauration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973568" y="987552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1D304A"/>
          </a:solidFill>
          <a:ln w="12700">
            <a:solidFill>
              <a:srgbClr val="3951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66760" y="14173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6F8FB"/>
                </a:solidFill>
              </a:rPr>
              <a:t>multi_lang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458200" y="1938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C6D8"/>
                </a:solidFill>
              </a:rPr>
              <a:t>UTF-8  ·  ICU fr-FR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83880" y="274320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73D7B0"/>
                </a:solidFill>
              </a:rPr>
              <a:t>3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8046720" y="33467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8C9"/>
                </a:solidFill>
              </a:rPr>
              <a:t>tables normalisées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46920" y="274320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0B35B"/>
                </a:solidFill>
              </a:rPr>
              <a:t>2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9509760" y="33467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8C9"/>
                </a:solidFill>
              </a:rPr>
              <a:t>utilisateurs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183880" y="406908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42C6D8"/>
                </a:solidFill>
              </a:rPr>
              <a:t>7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8046720" y="46725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8C9"/>
                </a:solidFill>
              </a:rPr>
              <a:t>étudiants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46920" y="406908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EF7B79"/>
                </a:solidFill>
              </a:rPr>
              <a:t>8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9509760" y="46725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8C9"/>
                </a:solidFill>
              </a:rPr>
              <a:t>notes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614476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8C9"/>
                </a:solidFill>
              </a:rPr>
              <a:t>PostgreSQL 17 · validation réelle sous Windows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C6D8"/>
          </a:solidFill>
          <a:ln w="12700">
            <a:solidFill>
              <a:srgbClr val="42C6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2C6D8"/>
                </a:solidFill>
              </a:rPr>
              <a:t>OBJECTIF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8FB"/>
                </a:solidFill>
              </a:rPr>
              <a:t>Un seul projet couvre les cinq exercices du TP.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C9"/>
                </a:solidFill>
              </a:rPr>
              <a:t>La démonstration suit le cycle de vie complet d'une base administrée.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C9"/>
                </a:solidFill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19088"/>
            <a:ext cx="10378440" cy="0"/>
          </a:xfrm>
          <a:prstGeom prst="line">
            <a:avLst/>
          </a:prstGeom>
          <a:noFill/>
          <a:ln w="8890">
            <a:solidFill>
              <a:srgbClr val="3951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0116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C6D8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2423160"/>
            <a:ext cx="1783080" cy="0"/>
          </a:xfrm>
          <a:prstGeom prst="line">
            <a:avLst/>
          </a:prstGeom>
          <a:noFill/>
          <a:ln w="25400">
            <a:solidFill>
              <a:srgbClr val="42C6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633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8FB"/>
                </a:solidFill>
              </a:rPr>
              <a:t>Créer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" y="312724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9"/>
                </a:solidFill>
              </a:rPr>
              <a:t>UTF-8 + collation française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68880" y="4407408"/>
            <a:ext cx="292608" cy="292608"/>
          </a:xfrm>
          <a:prstGeom prst="chevron">
            <a:avLst/>
          </a:prstGeom>
          <a:solidFill>
            <a:srgbClr val="39516D"/>
          </a:solidFill>
          <a:ln w="12700">
            <a:solidFill>
              <a:srgbClr val="3951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20116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3D7B0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26080" y="2423160"/>
            <a:ext cx="1783080" cy="0"/>
          </a:xfrm>
          <a:prstGeom prst="line">
            <a:avLst/>
          </a:prstGeom>
          <a:noFill/>
          <a:ln w="25400">
            <a:solidFill>
              <a:srgbClr val="73D7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2633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8FB"/>
                </a:solidFill>
              </a:rPr>
              <a:t>Modéliser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926080" y="312724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9"/>
                </a:solidFill>
              </a:rPr>
              <a:t>Schéma normalisé BUT3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36592" y="4407408"/>
            <a:ext cx="292608" cy="292608"/>
          </a:xfrm>
          <a:prstGeom prst="chevron">
            <a:avLst/>
          </a:prstGeom>
          <a:solidFill>
            <a:srgbClr val="39516D"/>
          </a:solidFill>
          <a:ln w="12700">
            <a:solidFill>
              <a:srgbClr val="3951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20116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35B"/>
                </a:solidFill>
              </a:rPr>
              <a:t>03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93792" y="2423160"/>
            <a:ext cx="1783080" cy="0"/>
          </a:xfrm>
          <a:prstGeom prst="line">
            <a:avLst/>
          </a:prstGeom>
          <a:noFill/>
          <a:ln w="25400">
            <a:solidFill>
              <a:srgbClr val="F0B3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93792" y="2633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8FB"/>
                </a:solidFill>
              </a:rPr>
              <a:t>Sécuriser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93792" y="312724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9"/>
                </a:solidFill>
              </a:rPr>
              <a:t>Droits minimaux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004304" y="4407408"/>
            <a:ext cx="292608" cy="292608"/>
          </a:xfrm>
          <a:prstGeom prst="chevron">
            <a:avLst/>
          </a:prstGeom>
          <a:solidFill>
            <a:srgbClr val="39516D"/>
          </a:solidFill>
          <a:ln w="12700">
            <a:solidFill>
              <a:srgbClr val="39516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61504" y="20116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7B79"/>
                </a:solidFill>
              </a:rPr>
              <a:t>04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61504" y="2423160"/>
            <a:ext cx="1783080" cy="0"/>
          </a:xfrm>
          <a:prstGeom prst="line">
            <a:avLst/>
          </a:prstGeom>
          <a:noFill/>
          <a:ln w="25400">
            <a:solidFill>
              <a:srgbClr val="EF7B7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61504" y="2633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8FB"/>
                </a:solidFill>
              </a:rPr>
              <a:t>Sauvegarder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61504" y="312724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9"/>
                </a:solidFill>
              </a:rPr>
              <a:t>SQL + format custom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272016" y="4407408"/>
            <a:ext cx="292608" cy="292608"/>
          </a:xfrm>
          <a:prstGeom prst="chevron">
            <a:avLst/>
          </a:prstGeom>
          <a:solidFill>
            <a:srgbClr val="39516D"/>
          </a:solidFill>
          <a:ln w="12700">
            <a:solidFill>
              <a:srgbClr val="3951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29216" y="20116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C6D8"/>
                </a:solidFill>
              </a:rPr>
              <a:t>05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729216" y="2423160"/>
            <a:ext cx="1783080" cy="0"/>
          </a:xfrm>
          <a:prstGeom prst="line">
            <a:avLst/>
          </a:prstGeom>
          <a:noFill/>
          <a:ln w="25400">
            <a:solidFill>
              <a:srgbClr val="42C6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29216" y="2633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8FB"/>
                </a:solidFill>
              </a:rPr>
              <a:t>Restaurer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729216" y="312724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9"/>
                </a:solidFill>
              </a:rPr>
              <a:t>Complète + ciblée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240280" y="5257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6F8FB"/>
                </a:solidFill>
              </a:rPr>
              <a:t>Résultat : un dépôt rejouable, documenté et validé.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C6D8"/>
          </a:solidFill>
          <a:ln w="12700">
            <a:solidFill>
              <a:srgbClr val="42C6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2C6D8"/>
                </a:solidFill>
              </a:rPr>
              <a:t>MODÈLE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8FB"/>
                </a:solidFill>
              </a:rPr>
              <a:t>La normalisation sépare les élèves, les matières et les évaluations.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C9"/>
                </a:solidFill>
              </a:rPr>
              <a:t>La table notes matérialise la relation plusieurs-à-plusieurs.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C9"/>
                </a:solidFill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19088"/>
            <a:ext cx="10378440" cy="0"/>
          </a:xfrm>
          <a:prstGeom prst="line">
            <a:avLst/>
          </a:prstGeom>
          <a:noFill/>
          <a:ln w="8890">
            <a:solidFill>
              <a:srgbClr val="39516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993392"/>
            <a:ext cx="3063240" cy="3063240"/>
          </a:xfrm>
          <a:prstGeom prst="roundRect">
            <a:avLst>
              <a:gd name="adj" fmla="val 1791"/>
            </a:avLst>
          </a:prstGeom>
          <a:solidFill>
            <a:srgbClr val="1D304A"/>
          </a:solidFill>
          <a:ln w="12700">
            <a:solidFill>
              <a:srgbClr val="39516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993392"/>
            <a:ext cx="73152" cy="3063240"/>
          </a:xfrm>
          <a:prstGeom prst="rect">
            <a:avLst/>
          </a:prstGeom>
          <a:solidFill>
            <a:srgbClr val="42C6D8"/>
          </a:solidFill>
          <a:ln w="12700">
            <a:solidFill>
              <a:srgbClr val="42C6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579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8FB"/>
                </a:solidFill>
              </a:rPr>
              <a:t>ETUDIANTS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2624328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A9B8C9"/>
                </a:solidFill>
              </a:rPr>
              <a:t>id_etudiant  PK</a:t>
            </a:r>
            <a:endParaRPr lang="en-US" sz="1150" dirty="0"/>
          </a:p>
          <a:p>
            <a:r>
              <a:rPr lang="en-US" sz="1150" dirty="0">
                <a:solidFill>
                  <a:srgbClr val="A9B8C9"/>
                </a:solidFill>
              </a:rPr>
              <a:t>nom · prenom</a:t>
            </a:r>
            <a:endParaRPr lang="en-US" sz="1150" dirty="0"/>
          </a:p>
          <a:p>
            <a:r>
              <a:rPr lang="en-US" sz="1150" dirty="0">
                <a:solidFill>
                  <a:srgbClr val="A9B8C9"/>
                </a:solidFill>
              </a:rPr>
              <a:t>email  UNIQUE</a:t>
            </a:r>
            <a:endParaRPr lang="en-US" sz="1150" dirty="0"/>
          </a:p>
          <a:p>
            <a:r>
              <a:rPr lang="en-US" sz="1150" dirty="0">
                <a:solidFill>
                  <a:srgbClr val="A9B8C9"/>
                </a:solidFill>
              </a:rPr>
              <a:t>groupe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0" y="1993392"/>
            <a:ext cx="3063240" cy="3063240"/>
          </a:xfrm>
          <a:prstGeom prst="roundRect">
            <a:avLst>
              <a:gd name="adj" fmla="val 1791"/>
            </a:avLst>
          </a:prstGeom>
          <a:solidFill>
            <a:srgbClr val="1D304A"/>
          </a:solidFill>
          <a:ln w="12700">
            <a:solidFill>
              <a:srgbClr val="39516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993392"/>
            <a:ext cx="73152" cy="3063240"/>
          </a:xfrm>
          <a:prstGeom prst="rect">
            <a:avLst/>
          </a:prstGeom>
          <a:solidFill>
            <a:srgbClr val="F0B35B"/>
          </a:solidFill>
          <a:ln w="12700">
            <a:solidFill>
              <a:srgbClr val="F0B3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1579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8FB"/>
                </a:solidFill>
              </a:rPr>
              <a:t>NOTES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2560320"/>
            <a:ext cx="2624328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A9B8C9"/>
                </a:solidFill>
              </a:rPr>
              <a:t>id_note  PK</a:t>
            </a:r>
            <a:endParaRPr lang="en-US" sz="1150" dirty="0"/>
          </a:p>
          <a:p>
            <a:r>
              <a:rPr lang="en-US" sz="1150" dirty="0">
                <a:solidFill>
                  <a:srgbClr val="A9B8C9"/>
                </a:solidFill>
              </a:rPr>
              <a:t>id_etudiant  FK</a:t>
            </a:r>
            <a:endParaRPr lang="en-US" sz="1150" dirty="0"/>
          </a:p>
          <a:p>
            <a:r>
              <a:rPr lang="en-US" sz="1150" dirty="0">
                <a:solidFill>
                  <a:srgbClr val="A9B8C9"/>
                </a:solidFill>
              </a:rPr>
              <a:t>id_matiere  FK</a:t>
            </a:r>
            <a:endParaRPr lang="en-US" sz="1150" dirty="0"/>
          </a:p>
          <a:p>
            <a:r>
              <a:rPr lang="en-US" sz="1150" dirty="0">
                <a:solidFill>
                  <a:srgbClr val="A9B8C9"/>
                </a:solidFill>
              </a:rPr>
              <a:t>note  CHECK 0–20</a:t>
            </a:r>
            <a:endParaRPr lang="en-US" sz="1150" dirty="0"/>
          </a:p>
          <a:p>
            <a:r>
              <a:rPr lang="en-US" sz="1150" dirty="0">
                <a:solidFill>
                  <a:srgbClr val="A9B8C9"/>
                </a:solidFill>
              </a:rPr>
              <a:t>date_evaluation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58200" y="1993392"/>
            <a:ext cx="3063240" cy="3063240"/>
          </a:xfrm>
          <a:prstGeom prst="roundRect">
            <a:avLst>
              <a:gd name="adj" fmla="val 1791"/>
            </a:avLst>
          </a:prstGeom>
          <a:solidFill>
            <a:srgbClr val="1D304A"/>
          </a:solidFill>
          <a:ln w="12700">
            <a:solidFill>
              <a:srgbClr val="39516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58200" y="1993392"/>
            <a:ext cx="73152" cy="3063240"/>
          </a:xfrm>
          <a:prstGeom prst="rect">
            <a:avLst/>
          </a:prstGeom>
          <a:solidFill>
            <a:srgbClr val="73D7B0"/>
          </a:solidFill>
          <a:ln w="12700">
            <a:solidFill>
              <a:srgbClr val="73D7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0" y="21579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8FB"/>
                </a:solidFill>
              </a:rPr>
              <a:t>MATIERES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0" y="2560320"/>
            <a:ext cx="2624328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A9B8C9"/>
                </a:solidFill>
              </a:rPr>
              <a:t>id_matiere  PK</a:t>
            </a:r>
            <a:endParaRPr lang="en-US" sz="1150" dirty="0"/>
          </a:p>
          <a:p>
            <a:r>
              <a:rPr lang="en-US" sz="1150" dirty="0">
                <a:solidFill>
                  <a:srgbClr val="A9B8C9"/>
                </a:solidFill>
              </a:rPr>
              <a:t>libelle</a:t>
            </a:r>
            <a:endParaRPr lang="en-US" sz="1150" dirty="0"/>
          </a:p>
          <a:p>
            <a:r>
              <a:rPr lang="en-US" sz="1150" dirty="0">
                <a:solidFill>
                  <a:srgbClr val="A9B8C9"/>
                </a:solidFill>
              </a:rPr>
              <a:t>coefficient  CHECK &gt; 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886200" y="3246120"/>
            <a:ext cx="438912" cy="292608"/>
          </a:xfrm>
          <a:prstGeom prst="chevron">
            <a:avLst/>
          </a:prstGeom>
          <a:solidFill>
            <a:srgbClr val="42C6D8"/>
          </a:solidFill>
          <a:ln w="12700">
            <a:solidFill>
              <a:srgbClr val="42C6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3246120"/>
            <a:ext cx="438912" cy="292608"/>
          </a:xfrm>
          <a:prstGeom prst="chevron">
            <a:avLst/>
          </a:prstGeom>
          <a:solidFill>
            <a:srgbClr val="73D7B0"/>
          </a:solidFill>
          <a:ln w="12700">
            <a:solidFill>
              <a:srgbClr val="73D7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5321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7B79"/>
                </a:solidFill>
              </a:rPr>
              <a:t>ON DELETE CASCADE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C6D8"/>
          </a:solidFill>
          <a:ln w="12700">
            <a:solidFill>
              <a:srgbClr val="42C6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2C6D8"/>
                </a:solidFill>
              </a:rPr>
              <a:t>MULTILINGUE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8FB"/>
                </a:solidFill>
              </a:rPr>
              <a:t>UTF-8 conserve les caractères ; ICU fr-FR rend le tri pertinent.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C9"/>
                </a:solidFill>
              </a:rPr>
              <a:t>Le projet démontre les accents français ainsi que des écritures chinoises et arabes.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C9"/>
                </a:solidFill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19088"/>
            <a:ext cx="10378440" cy="0"/>
          </a:xfrm>
          <a:prstGeom prst="line">
            <a:avLst/>
          </a:prstGeom>
          <a:noFill/>
          <a:ln w="8890">
            <a:solidFill>
              <a:srgbClr val="39516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65960"/>
            <a:ext cx="4663440" cy="585216"/>
          </a:xfrm>
          <a:prstGeom prst="roundRect">
            <a:avLst>
              <a:gd name="adj" fmla="val 6250"/>
            </a:avLst>
          </a:prstGeom>
          <a:solidFill>
            <a:srgbClr val="1D304A"/>
          </a:solidFill>
          <a:ln w="12700">
            <a:solidFill>
              <a:srgbClr val="3951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1214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2C6D8"/>
                </a:solidFill>
              </a:rPr>
              <a:t>FR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81328" y="20756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8FB"/>
                </a:solidFill>
              </a:rPr>
              <a:t>Évrard  Chloé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2752344"/>
            <a:ext cx="4663440" cy="585216"/>
          </a:xfrm>
          <a:prstGeom prst="roundRect">
            <a:avLst>
              <a:gd name="adj" fmla="val 6250"/>
            </a:avLst>
          </a:prstGeom>
          <a:solidFill>
            <a:srgbClr val="1D304A"/>
          </a:solidFill>
          <a:ln w="12700">
            <a:solidFill>
              <a:srgbClr val="3951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9077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3D7B0"/>
                </a:solidFill>
              </a:rPr>
              <a:t>FR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81328" y="2862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8FB"/>
                </a:solidFill>
              </a:rPr>
              <a:t>Noël  Anaïs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538728"/>
            <a:ext cx="4663440" cy="585216"/>
          </a:xfrm>
          <a:prstGeom prst="roundRect">
            <a:avLst>
              <a:gd name="adj" fmla="val 6250"/>
            </a:avLst>
          </a:prstGeom>
          <a:solidFill>
            <a:srgbClr val="1D304A"/>
          </a:solidFill>
          <a:ln w="12700">
            <a:solidFill>
              <a:srgbClr val="3951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6941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B35B"/>
                </a:solidFill>
              </a:rPr>
              <a:t>ZH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81328" y="3648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8FB"/>
                </a:solidFill>
              </a:rPr>
              <a:t>李  梅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4325112"/>
            <a:ext cx="4663440" cy="585216"/>
          </a:xfrm>
          <a:prstGeom prst="roundRect">
            <a:avLst>
              <a:gd name="adj" fmla="val 6250"/>
            </a:avLst>
          </a:prstGeom>
          <a:solidFill>
            <a:srgbClr val="1D304A"/>
          </a:solidFill>
          <a:ln w="12700">
            <a:solidFill>
              <a:srgbClr val="3951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44805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7B79"/>
                </a:solidFill>
              </a:rPr>
              <a:t>AR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81328" y="4434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8FB"/>
                </a:solidFill>
              </a:rPr>
              <a:t>العلمي  ليلى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80760" y="1965960"/>
            <a:ext cx="5303520" cy="3401568"/>
          </a:xfrm>
          <a:prstGeom prst="roundRect">
            <a:avLst>
              <a:gd name="adj" fmla="val 1613"/>
            </a:avLst>
          </a:prstGeom>
          <a:solidFill>
            <a:srgbClr val="0B1422"/>
          </a:solidFill>
          <a:ln w="12700">
            <a:solidFill>
              <a:srgbClr val="3951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359152"/>
            <a:ext cx="4572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3D7B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CREATE DATABASE multi_lang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3D7B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ENCODING = 'UTF8'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3D7B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LOCALE_PROVIDER = icu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3D7B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ICU_LOCALE = 'fr-FR';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46520" y="42519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C6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ORDER BY nom COLLATE tri_francais;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48920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9"/>
                </a:solidFill>
              </a:rPr>
              <a:t>7 étudiants · 6 avec caractères non ASCII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C6D8"/>
          </a:solidFill>
          <a:ln w="12700">
            <a:solidFill>
              <a:srgbClr val="42C6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2C6D8"/>
                </a:solidFill>
              </a:rPr>
              <a:t>SÉCURITÉ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8FB"/>
                </a:solidFill>
              </a:rPr>
              <a:t>Le principe du moindre privilège limite readonly_user à une seule action.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C9"/>
                </a:solidFill>
              </a:rPr>
              <a:t>Les permissions sont contrôlées par des requêtes has_*_privilege.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C9"/>
                </a:solidFill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19088"/>
            <a:ext cx="10378440" cy="0"/>
          </a:xfrm>
          <a:prstGeom prst="line">
            <a:avLst/>
          </a:prstGeom>
          <a:noFill/>
          <a:ln w="8890">
            <a:solidFill>
              <a:srgbClr val="3951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38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8C9"/>
                </a:solidFill>
              </a:rPr>
              <a:t>CAPACITÉ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1938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B35B"/>
                </a:solidFill>
              </a:rPr>
              <a:t>admin_user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C6D8"/>
                </a:solidFill>
              </a:rPr>
              <a:t>readonly_user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2935224"/>
            <a:ext cx="9784080" cy="0"/>
          </a:xfrm>
          <a:prstGeom prst="line">
            <a:avLst/>
          </a:prstGeom>
          <a:noFill/>
          <a:ln w="10160">
            <a:solidFill>
              <a:srgbClr val="3951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423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8FB"/>
                </a:solidFill>
              </a:rPr>
              <a:t>CONNECT multi_lang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72200" y="23865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3D7B0"/>
                </a:solidFill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869680" y="23865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3D7B0"/>
                </a:solidFill>
              </a:rPr>
              <a:t>✓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68680" y="3648456"/>
            <a:ext cx="9784080" cy="0"/>
          </a:xfrm>
          <a:prstGeom prst="line">
            <a:avLst/>
          </a:prstGeom>
          <a:noFill/>
          <a:ln w="10160">
            <a:solidFill>
              <a:srgbClr val="3951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1363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8FB"/>
                </a:solidFill>
              </a:rPr>
              <a:t>SELECT notes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72200" y="309981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3D7B0"/>
                </a:solidFill>
              </a:rPr>
              <a:t>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869680" y="309981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3D7B0"/>
                </a:solidFill>
              </a:rPr>
              <a:t>✓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68680" y="4361688"/>
            <a:ext cx="9784080" cy="0"/>
          </a:xfrm>
          <a:prstGeom prst="line">
            <a:avLst/>
          </a:prstGeom>
          <a:noFill/>
          <a:ln w="10160">
            <a:solidFill>
              <a:srgbClr val="3951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8496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8FB"/>
                </a:solidFill>
              </a:rPr>
              <a:t>INSERT notes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72200" y="38130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3D7B0"/>
                </a:solidFill>
              </a:rPr>
              <a:t>✓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869680" y="38130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7B79"/>
                </a:solidFill>
              </a:rPr>
              <a:t>×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68680" y="5074920"/>
            <a:ext cx="9784080" cy="0"/>
          </a:xfrm>
          <a:prstGeom prst="line">
            <a:avLst/>
          </a:prstGeom>
          <a:noFill/>
          <a:ln w="10160">
            <a:solidFill>
              <a:srgbClr val="3951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5628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8FB"/>
                </a:solidFill>
              </a:rPr>
              <a:t>SELECT etudiants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172200" y="45262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3D7B0"/>
                </a:solidFill>
              </a:rPr>
              <a:t>✓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869680" y="45262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7B79"/>
                </a:solidFill>
              </a:rPr>
              <a:t>×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926080" y="557784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2C6D8"/>
                </a:solidFill>
              </a:rPr>
              <a:t>readonly_user = lecture seule sur notes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C6D8"/>
          </a:solidFill>
          <a:ln w="12700">
            <a:solidFill>
              <a:srgbClr val="42C6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2C6D8"/>
                </a:solidFill>
              </a:rPr>
              <a:t>SAUVEGARDE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8FB"/>
                </a:solidFill>
              </a:rPr>
              <a:t>Deux formats couvrent la portabilité et la restauration ciblée.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C9"/>
                </a:solidFill>
              </a:rPr>
              <a:t>Les options --no-owner --no-acl évitent les dépendances aux rôles du serveur source.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C9"/>
                </a:solidFill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19088"/>
            <a:ext cx="10378440" cy="0"/>
          </a:xfrm>
          <a:prstGeom prst="line">
            <a:avLst/>
          </a:prstGeom>
          <a:noFill/>
          <a:ln w="8890">
            <a:solidFill>
              <a:srgbClr val="39516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93392"/>
            <a:ext cx="3246120" cy="3108960"/>
          </a:xfrm>
          <a:prstGeom prst="roundRect">
            <a:avLst>
              <a:gd name="adj" fmla="val 1765"/>
            </a:avLst>
          </a:prstGeom>
          <a:solidFill>
            <a:srgbClr val="1D304A"/>
          </a:solidFill>
          <a:ln w="12700">
            <a:solidFill>
              <a:srgbClr val="39516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993392"/>
            <a:ext cx="73152" cy="3108960"/>
          </a:xfrm>
          <a:prstGeom prst="rect">
            <a:avLst/>
          </a:prstGeom>
          <a:solidFill>
            <a:srgbClr val="42C6D8"/>
          </a:solidFill>
          <a:ln w="12700">
            <a:solidFill>
              <a:srgbClr val="42C6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1579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8FB"/>
                </a:solidFill>
              </a:rPr>
              <a:t>multi_lang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560320"/>
            <a:ext cx="2807208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A9B8C9"/>
                </a:solidFill>
              </a:rPr>
              <a:t>Base source</a:t>
            </a:r>
            <a:endParaRPr lang="en-US" sz="1150" dirty="0"/>
          </a:p>
          <a:p>
            <a:r>
              <a:rPr lang="en-US" sz="1150" dirty="0">
                <a:solidFill>
                  <a:srgbClr val="A9B8C9"/>
                </a:solidFill>
              </a:rPr>
              <a:t>7 étudiants</a:t>
            </a:r>
            <a:endParaRPr lang="en-US" sz="1150" dirty="0"/>
          </a:p>
          <a:p>
            <a:r>
              <a:rPr lang="en-US" sz="1150" dirty="0">
                <a:solidFill>
                  <a:srgbClr val="A9B8C9"/>
                </a:solidFill>
              </a:rPr>
              <a:t>4 matières</a:t>
            </a:r>
            <a:endParaRPr lang="en-US" sz="1150" dirty="0"/>
          </a:p>
          <a:p>
            <a:r>
              <a:rPr lang="en-US" sz="1150" dirty="0">
                <a:solidFill>
                  <a:srgbClr val="A9B8C9"/>
                </a:solidFill>
              </a:rPr>
              <a:t>8 notes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24528" y="2578608"/>
            <a:ext cx="566928" cy="292608"/>
          </a:xfrm>
          <a:prstGeom prst="chevron">
            <a:avLst/>
          </a:prstGeom>
          <a:solidFill>
            <a:srgbClr val="73D7B0"/>
          </a:solidFill>
          <a:ln w="12700">
            <a:solidFill>
              <a:srgbClr val="73D7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4160520"/>
            <a:ext cx="566928" cy="292608"/>
          </a:xfrm>
          <a:prstGeom prst="chevron">
            <a:avLst/>
          </a:prstGeom>
          <a:solidFill>
            <a:srgbClr val="F0B35B"/>
          </a:solidFill>
          <a:ln w="12700">
            <a:solidFill>
              <a:srgbClr val="F0B3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74920" y="1874520"/>
            <a:ext cx="2743200" cy="1481328"/>
          </a:xfrm>
          <a:prstGeom prst="roundRect">
            <a:avLst>
              <a:gd name="adj" fmla="val 3704"/>
            </a:avLst>
          </a:prstGeom>
          <a:solidFill>
            <a:srgbClr val="1D304A"/>
          </a:solidFill>
          <a:ln w="12700">
            <a:solidFill>
              <a:srgbClr val="39516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74920" y="1874520"/>
            <a:ext cx="73152" cy="1481328"/>
          </a:xfrm>
          <a:prstGeom prst="rect">
            <a:avLst/>
          </a:prstGeom>
          <a:solidFill>
            <a:srgbClr val="73D7B0"/>
          </a:solidFill>
          <a:ln w="12700">
            <a:solidFill>
              <a:srgbClr val="73D7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20391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8FB"/>
                </a:solidFill>
              </a:rPr>
              <a:t>multi_lang.sql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03520" y="2441448"/>
            <a:ext cx="2304288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A9B8C9"/>
                </a:solidFill>
              </a:rPr>
              <a:t>Dump logique lisible</a:t>
            </a:r>
            <a:endParaRPr lang="en-US" sz="1150" dirty="0"/>
          </a:p>
          <a:p>
            <a:r>
              <a:rPr lang="en-US" sz="1150" dirty="0">
                <a:solidFill>
                  <a:srgbClr val="A9B8C9"/>
                </a:solidFill>
              </a:rPr>
              <a:t>Restauration avec psql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74920" y="3730752"/>
            <a:ext cx="2743200" cy="1481328"/>
          </a:xfrm>
          <a:prstGeom prst="roundRect">
            <a:avLst>
              <a:gd name="adj" fmla="val 3704"/>
            </a:avLst>
          </a:prstGeom>
          <a:solidFill>
            <a:srgbClr val="1D304A"/>
          </a:solidFill>
          <a:ln w="12700">
            <a:solidFill>
              <a:srgbClr val="39516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74920" y="3730752"/>
            <a:ext cx="73152" cy="1481328"/>
          </a:xfrm>
          <a:prstGeom prst="rect">
            <a:avLst/>
          </a:prstGeom>
          <a:solidFill>
            <a:srgbClr val="F0B35B"/>
          </a:solidFill>
          <a:ln w="12700">
            <a:solidFill>
              <a:srgbClr val="F0B3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38953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8FB"/>
                </a:solidFill>
              </a:rPr>
              <a:t>multi_lang.dump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03520" y="4297680"/>
            <a:ext cx="2304288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A9B8C9"/>
                </a:solidFill>
              </a:rPr>
              <a:t>Format custom</a:t>
            </a:r>
            <a:endParaRPr lang="en-US" sz="1150" dirty="0"/>
          </a:p>
          <a:p>
            <a:r>
              <a:rPr lang="en-US" sz="1150" dirty="0">
                <a:solidFill>
                  <a:srgbClr val="A9B8C9"/>
                </a:solidFill>
              </a:rPr>
              <a:t>Sélection avec pg_restore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19872" y="2578608"/>
            <a:ext cx="566928" cy="292608"/>
          </a:xfrm>
          <a:prstGeom prst="chevron">
            <a:avLst/>
          </a:prstGeom>
          <a:solidFill>
            <a:srgbClr val="73D7B0"/>
          </a:solidFill>
          <a:ln w="12700">
            <a:solidFill>
              <a:srgbClr val="73D7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19872" y="4160520"/>
            <a:ext cx="566928" cy="292608"/>
          </a:xfrm>
          <a:prstGeom prst="chevron">
            <a:avLst/>
          </a:prstGeom>
          <a:solidFill>
            <a:srgbClr val="F0B35B"/>
          </a:solidFill>
          <a:ln w="12700">
            <a:solidFill>
              <a:srgbClr val="F0B35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79408" y="1993392"/>
            <a:ext cx="2468880" cy="3108960"/>
          </a:xfrm>
          <a:prstGeom prst="roundRect">
            <a:avLst>
              <a:gd name="adj" fmla="val 2222"/>
            </a:avLst>
          </a:prstGeom>
          <a:solidFill>
            <a:srgbClr val="1D304A"/>
          </a:solidFill>
          <a:ln w="12700">
            <a:solidFill>
              <a:srgbClr val="39516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79408" y="1993392"/>
            <a:ext cx="73152" cy="3108960"/>
          </a:xfrm>
          <a:prstGeom prst="rect">
            <a:avLst/>
          </a:prstGeom>
          <a:solidFill>
            <a:srgbClr val="EF7B79"/>
          </a:solidFill>
          <a:ln w="12700">
            <a:solidFill>
              <a:srgbClr val="EF7B7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08008" y="21579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8FB"/>
                </a:solidFill>
              </a:rPr>
              <a:t>BUT3_backup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08008" y="2560320"/>
            <a:ext cx="2029968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A9B8C9"/>
                </a:solidFill>
              </a:rPr>
              <a:t>Nouvelle base</a:t>
            </a:r>
            <a:endParaRPr lang="en-US" sz="1150" dirty="0"/>
          </a:p>
          <a:p>
            <a:r>
              <a:rPr lang="en-US" sz="1150" dirty="0">
                <a:solidFill>
                  <a:srgbClr val="A9B8C9"/>
                </a:solidFill>
              </a:rPr>
              <a:t>restaurée et</a:t>
            </a:r>
            <a:endParaRPr lang="en-US" sz="1150" dirty="0"/>
          </a:p>
          <a:p>
            <a:r>
              <a:rPr lang="en-US" sz="1150" dirty="0">
                <a:solidFill>
                  <a:srgbClr val="A9B8C9"/>
                </a:solidFill>
              </a:rPr>
              <a:t>vérifiée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46120" y="559612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8C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pg_dump  →  fichier  →  restauration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C6D8"/>
          </a:solidFill>
          <a:ln w="12700">
            <a:solidFill>
              <a:srgbClr val="42C6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2C6D8"/>
                </a:solidFill>
              </a:rPr>
              <a:t>RESTAURATION CIBLÉE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8FB"/>
                </a:solidFill>
              </a:rPr>
              <a:t>Le dump dédié conserve la table étudiants et toutes ses dépendances utiles.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C9"/>
                </a:solidFill>
              </a:rPr>
              <a:t>La séquence et les contraintes sont indispensables pour continuer à insérer après restauration.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C9"/>
                </a:solidFill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19088"/>
            <a:ext cx="10378440" cy="0"/>
          </a:xfrm>
          <a:prstGeom prst="line">
            <a:avLst/>
          </a:prstGeom>
          <a:noFill/>
          <a:ln w="8890">
            <a:solidFill>
              <a:srgbClr val="39516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57400"/>
            <a:ext cx="2880360" cy="2971800"/>
          </a:xfrm>
          <a:prstGeom prst="roundRect">
            <a:avLst>
              <a:gd name="adj" fmla="val 1905"/>
            </a:avLst>
          </a:prstGeom>
          <a:solidFill>
            <a:srgbClr val="1D304A"/>
          </a:solidFill>
          <a:ln w="12700">
            <a:solidFill>
              <a:srgbClr val="39516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057400"/>
            <a:ext cx="73152" cy="2971800"/>
          </a:xfrm>
          <a:prstGeom prst="rect">
            <a:avLst/>
          </a:prstGeom>
          <a:solidFill>
            <a:srgbClr val="42C6D8"/>
          </a:solidFill>
          <a:ln w="12700">
            <a:solidFill>
              <a:srgbClr val="42C6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221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8FB"/>
                </a:solidFill>
              </a:rPr>
              <a:t>Dump ciblé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624328"/>
            <a:ext cx="2441448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A9B8C9"/>
                </a:solidFill>
              </a:rPr>
              <a:t>pg_dump -Fc</a:t>
            </a:r>
            <a:endParaRPr lang="en-US" sz="1150" dirty="0"/>
          </a:p>
          <a:p>
            <a:r>
              <a:rPr lang="en-US" sz="1150" dirty="0">
                <a:solidFill>
                  <a:srgbClr val="A9B8C9"/>
                </a:solidFill>
              </a:rPr>
              <a:t>-t etudiants</a:t>
            </a:r>
            <a:endParaRPr lang="en-US" sz="1150" dirty="0"/>
          </a:p>
          <a:p>
            <a:r>
              <a:rPr lang="en-US" sz="1150" dirty="0">
                <a:solidFill>
                  <a:srgbClr val="A9B8C9"/>
                </a:solidFill>
              </a:rPr>
              <a:t>--no-owner --no-acl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86200" y="3273552"/>
            <a:ext cx="658368" cy="292608"/>
          </a:xfrm>
          <a:prstGeom prst="chevron">
            <a:avLst/>
          </a:prstGeom>
          <a:solidFill>
            <a:srgbClr val="42C6D8"/>
          </a:solidFill>
          <a:ln w="12700">
            <a:solidFill>
              <a:srgbClr val="42C6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28032" y="1901952"/>
            <a:ext cx="2743200" cy="3291840"/>
          </a:xfrm>
          <a:prstGeom prst="roundRect">
            <a:avLst>
              <a:gd name="adj" fmla="val 2000"/>
            </a:avLst>
          </a:prstGeom>
          <a:solidFill>
            <a:srgbClr val="1D304A"/>
          </a:solidFill>
          <a:ln w="12700">
            <a:solidFill>
              <a:srgbClr val="39516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28032" y="1901952"/>
            <a:ext cx="73152" cy="3291840"/>
          </a:xfrm>
          <a:prstGeom prst="rect">
            <a:avLst/>
          </a:prstGeom>
          <a:solidFill>
            <a:srgbClr val="73D7B0"/>
          </a:solidFill>
          <a:ln w="12700">
            <a:solidFill>
              <a:srgbClr val="73D7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56632" y="20665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8FB"/>
                </a:solidFill>
              </a:rPr>
              <a:t>Contenu restauré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56632" y="2468880"/>
            <a:ext cx="2304288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A9B8C9"/>
                </a:solidFill>
              </a:rPr>
              <a:t>✓ table etudiants</a:t>
            </a:r>
            <a:endParaRPr lang="en-US" sz="1150" dirty="0"/>
          </a:p>
          <a:p>
            <a:r>
              <a:rPr lang="en-US" sz="1150" dirty="0">
                <a:solidFill>
                  <a:srgbClr val="A9B8C9"/>
                </a:solidFill>
              </a:rPr>
              <a:t>✓ 7 lignes</a:t>
            </a:r>
            <a:endParaRPr lang="en-US" sz="1150" dirty="0"/>
          </a:p>
          <a:p>
            <a:r>
              <a:rPr lang="en-US" sz="1150" dirty="0">
                <a:solidFill>
                  <a:srgbClr val="A9B8C9"/>
                </a:solidFill>
              </a:rPr>
              <a:t>✓ séquence</a:t>
            </a:r>
            <a:endParaRPr lang="en-US" sz="1150" dirty="0"/>
          </a:p>
          <a:p>
            <a:r>
              <a:rPr lang="en-US" sz="1150" dirty="0">
                <a:solidFill>
                  <a:srgbClr val="A9B8C9"/>
                </a:solidFill>
              </a:rPr>
              <a:t>✓ clé primaire</a:t>
            </a:r>
            <a:endParaRPr lang="en-US" sz="1150" dirty="0"/>
          </a:p>
          <a:p>
            <a:r>
              <a:rPr lang="en-US" sz="1150" dirty="0">
                <a:solidFill>
                  <a:srgbClr val="A9B8C9"/>
                </a:solidFill>
              </a:rPr>
              <a:t>✓ email UNIQUE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845552" y="3273552"/>
            <a:ext cx="658368" cy="292608"/>
          </a:xfrm>
          <a:prstGeom prst="chevron">
            <a:avLst/>
          </a:prstGeom>
          <a:solidFill>
            <a:srgbClr val="73D7B0"/>
          </a:solidFill>
          <a:ln w="12700">
            <a:solidFill>
              <a:srgbClr val="73D7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96528" y="2057400"/>
            <a:ext cx="2606040" cy="2971800"/>
          </a:xfrm>
          <a:prstGeom prst="roundRect">
            <a:avLst>
              <a:gd name="adj" fmla="val 2105"/>
            </a:avLst>
          </a:prstGeom>
          <a:solidFill>
            <a:srgbClr val="1D304A"/>
          </a:solidFill>
          <a:ln w="12700">
            <a:solidFill>
              <a:srgbClr val="39516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96528" y="2057400"/>
            <a:ext cx="73152" cy="2971800"/>
          </a:xfrm>
          <a:prstGeom prst="rect">
            <a:avLst/>
          </a:prstGeom>
          <a:solidFill>
            <a:srgbClr val="F0B35B"/>
          </a:solidFill>
          <a:ln w="12700">
            <a:solidFill>
              <a:srgbClr val="F0B3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25128" y="2221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8FB"/>
                </a:solidFill>
              </a:rPr>
              <a:t>Base vide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25128" y="2624328"/>
            <a:ext cx="2167128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A9B8C9"/>
                </a:solidFill>
              </a:rPr>
              <a:t>BUT3_etudiants_only</a:t>
            </a:r>
            <a:endParaRPr lang="en-US" sz="1150" dirty="0"/>
          </a:p>
          <a:p>
            <a:endParaRPr lang="en-US" sz="1150" dirty="0"/>
          </a:p>
          <a:p>
            <a:r>
              <a:rPr lang="en-US" sz="1150" dirty="0">
                <a:solidFill>
                  <a:srgbClr val="A9B8C9"/>
                </a:solidFill>
              </a:rPr>
              <a:t>Nouvelle insertion</a:t>
            </a:r>
            <a:endParaRPr lang="en-US" sz="1150" dirty="0"/>
          </a:p>
          <a:p>
            <a:r>
              <a:rPr lang="en-US" sz="1150" dirty="0">
                <a:solidFill>
                  <a:srgbClr val="A9B8C9"/>
                </a:solidFill>
              </a:rPr>
              <a:t>→ id_etudiant = 8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971800" y="559612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7B79"/>
                </a:solidFill>
              </a:rPr>
              <a:t>Sans la séquence, l'insertion automatique échoue.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C6D8"/>
          </a:solidFill>
          <a:ln w="12700">
            <a:solidFill>
              <a:srgbClr val="42C6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2C6D8"/>
                </a:solidFill>
              </a:rPr>
              <a:t>VALIDATION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8FB"/>
                </a:solidFill>
              </a:rPr>
              <a:t>Les cinq exercices sont exécutés et vérifiés sur PostgreSQL 17.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C9"/>
                </a:solidFill>
              </a:rPr>
              <a:t>Le dépôt contient les scripts, dumps, schéma et documentation nécessaires à la démonstration.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C9"/>
                </a:solidFill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19088"/>
            <a:ext cx="10378440" cy="0"/>
          </a:xfrm>
          <a:prstGeom prst="line">
            <a:avLst/>
          </a:prstGeom>
          <a:noFill/>
          <a:ln w="8890">
            <a:solidFill>
              <a:srgbClr val="39516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331720"/>
            <a:ext cx="6583680" cy="0"/>
          </a:xfrm>
          <a:prstGeom prst="line">
            <a:avLst/>
          </a:prstGeom>
          <a:noFill/>
          <a:ln w="10160">
            <a:solidFill>
              <a:srgbClr val="3951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8FB"/>
                </a:solidFill>
              </a:rPr>
              <a:t>UTF-8 + ICU fr-FR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80760" y="18745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C6D8"/>
                </a:solidFill>
              </a:rPr>
              <a:t>PASS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953512"/>
            <a:ext cx="6583680" cy="0"/>
          </a:xfrm>
          <a:prstGeom prst="line">
            <a:avLst/>
          </a:prstGeom>
          <a:noFill/>
          <a:ln w="10160">
            <a:solidFill>
              <a:srgbClr val="3951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4963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8FB"/>
                </a:solidFill>
              </a:rPr>
              <a:t>Schéma normalisé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80760" y="24963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3D7B0"/>
                </a:solidFill>
              </a:rPr>
              <a:t>PASS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3575304"/>
            <a:ext cx="6583680" cy="0"/>
          </a:xfrm>
          <a:prstGeom prst="line">
            <a:avLst/>
          </a:prstGeom>
          <a:noFill/>
          <a:ln w="10160">
            <a:solidFill>
              <a:srgbClr val="3951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11810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8FB"/>
                </a:solidFill>
              </a:rPr>
              <a:t>Privilèges minimaux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80760" y="3118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B35B"/>
                </a:solidFill>
              </a:rPr>
              <a:t>PASS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4197096"/>
            <a:ext cx="6583680" cy="0"/>
          </a:xfrm>
          <a:prstGeom prst="line">
            <a:avLst/>
          </a:prstGeom>
          <a:noFill/>
          <a:ln w="10160">
            <a:solidFill>
              <a:srgbClr val="3951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73989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8FB"/>
                </a:solidFill>
              </a:rPr>
              <a:t>Restauration complète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80760" y="37398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7B79"/>
                </a:solidFill>
              </a:rPr>
              <a:t>PASS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4818888"/>
            <a:ext cx="6583680" cy="0"/>
          </a:xfrm>
          <a:prstGeom prst="line">
            <a:avLst/>
          </a:prstGeom>
          <a:noFill/>
          <a:ln w="10160">
            <a:solidFill>
              <a:srgbClr val="3951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36168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8FB"/>
                </a:solidFill>
              </a:rPr>
              <a:t>Restauration ciblée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80760" y="43616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C6D8"/>
                </a:solidFill>
              </a:rPr>
              <a:t>PASS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09560" y="1874520"/>
            <a:ext cx="3383280" cy="3474720"/>
          </a:xfrm>
          <a:prstGeom prst="roundRect">
            <a:avLst>
              <a:gd name="adj" fmla="val 2162"/>
            </a:avLst>
          </a:prstGeom>
          <a:solidFill>
            <a:srgbClr val="1D304A"/>
          </a:solidFill>
          <a:ln w="19050">
            <a:solidFill>
              <a:srgbClr val="42C6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2267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2C6D8"/>
                </a:solidFill>
              </a:rPr>
              <a:t>Conclusion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02752" y="2880360"/>
            <a:ext cx="26060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8FB"/>
                </a:solidFill>
              </a:rPr>
              <a:t>Le projet répond aux consignes du TP et reste rejouable sur une installation PostgreSQL propre.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56235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Démonstration : sql/commandes.txt puis backup/commandes_sauvegarde_restauration.txt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BUT3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Administration d'une base PostgreSQL multilingue</dc:title>
  <dc:subject>TP PostgreSQL - Base multilingue</dc:subject>
  <dc:creator>Floryan Bornet</dc:creator>
  <cp:lastModifiedBy>Floryan Bornet</cp:lastModifiedBy>
  <cp:revision>1</cp:revision>
  <dcterms:created xsi:type="dcterms:W3CDTF">2026-06-13T22:19:46Z</dcterms:created>
  <dcterms:modified xsi:type="dcterms:W3CDTF">2026-06-13T22:19:46Z</dcterms:modified>
</cp:coreProperties>
</file>