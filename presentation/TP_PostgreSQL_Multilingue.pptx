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7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0299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2C6D8"/>
          </a:solidFill>
          <a:ln w="127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58368" y="566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2C6D8"/>
                </a:solidFill>
              </a:rPr>
              <a:t>TP POSTGRESQL · BUT3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143000"/>
            <a:ext cx="6858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3300" b="1">
                <a:solidFill>
                  <a:srgbClr val="F6F8FB"/>
                </a:solidFill>
              </a:rPr>
              <a:t>Répondre aux cinq exercices du TP PostgreSQL.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85800" y="2944368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9B8C9"/>
                </a:solidFill>
              </a:rPr>
              <a:t>Création · Normalisation · Privilèges · Sauvegarde · Restauration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973568" y="987552"/>
            <a:ext cx="3429000" cy="4480560"/>
          </a:xfrm>
          <a:prstGeom prst="roundRect">
            <a:avLst>
              <a:gd name="adj" fmla="val 2133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366760" y="141732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6F8FB"/>
                </a:solidFill>
              </a:rPr>
              <a:t>multi_lang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458200" y="19385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2C6D8"/>
                </a:solidFill>
              </a:rPr>
              <a:t>UTF-8  ·  ICU fr-FR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83880" y="274320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>
                <a:solidFill>
                  <a:srgbClr val="73D7B0"/>
                </a:solidFill>
              </a:rPr>
              <a:t>3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8046720" y="334670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8C9"/>
                </a:solidFill>
              </a:rPr>
              <a:t>tables normalisées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646920" y="274320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F0B35B"/>
                </a:solidFill>
              </a:rPr>
              <a:t>2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9509760" y="334670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8C9"/>
                </a:solidFill>
              </a:rPr>
              <a:t>utilisateurs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183880" y="40690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>
                <a:solidFill>
                  <a:srgbClr val="42C6D8"/>
                </a:solidFill>
              </a:rPr>
              <a:t>5</a:t>
            </a:r>
            <a:endParaRPr lang="en-US" sz="2900" dirty="0"/>
          </a:p>
        </p:txBody>
      </p:sp>
      <p:sp>
        <p:nvSpPr>
          <p:cNvPr id="14" name="Text 12"/>
          <p:cNvSpPr/>
          <p:nvPr/>
        </p:nvSpPr>
        <p:spPr>
          <a:xfrm>
            <a:off x="8046720" y="46725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8C9"/>
                </a:solidFill>
              </a:rPr>
              <a:t>étudiants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46920" y="40690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>
                <a:solidFill>
                  <a:srgbClr val="EF7B79"/>
                </a:solidFill>
              </a:rPr>
              <a:t>6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9509760" y="46725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8C9"/>
                </a:solidFill>
              </a:rPr>
              <a:t>notes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614476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>
                <a:solidFill>
                  <a:srgbClr val="A9B8C9"/>
                </a:solidFill>
              </a:rPr>
              <a:t>TP noté · projet PostgreSQL</a:t>
            </a:r>
            <a:endParaRPr lang="en-US" sz="1050" dirty="0"/>
          </a:p>
        </p:txBody>
      </p:sp>
      <p:sp>
        <p:nvSpPr>
          <p:cNvPr id="18" name="Team Label">
            <a:extLst>
              <a:ext uri="{FF2B5EF4-FFF2-40B4-BE49-F238E27FC236}">
                <a16:creationId xmlns:a16="http://schemas.microsoft.com/office/drawing/2014/main" id="{E4F79DB6-6B78-F736-5A35-F90FC05D27C2}"/>
              </a:ext>
            </a:extLst>
          </p:cNvPr>
          <p:cNvSpPr txBox="1"/>
          <p:nvPr/>
        </p:nvSpPr>
        <p:spPr>
          <a:xfrm>
            <a:off x="685800" y="5334000"/>
            <a:ext cx="676656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900" b="1">
                <a:solidFill>
                  <a:srgbClr val="329CE2"/>
                </a:solidFill>
                <a:latin typeface="Aptos" panose="020B0004020202020204" pitchFamily="34" charset="0"/>
              </a:rPr>
              <a:t>ÉQUIPE</a:t>
            </a:r>
          </a:p>
        </p:txBody>
      </p:sp>
      <p:sp>
        <p:nvSpPr>
          <p:cNvPr id="19" name="Team Names">
            <a:extLst>
              <a:ext uri="{FF2B5EF4-FFF2-40B4-BE49-F238E27FC236}">
                <a16:creationId xmlns:a16="http://schemas.microsoft.com/office/drawing/2014/main" id="{ACB2A93F-9FB2-4226-FF0B-F54B35387FBD}"/>
              </a:ext>
            </a:extLst>
          </p:cNvPr>
          <p:cNvSpPr txBox="1"/>
          <p:nvPr/>
        </p:nvSpPr>
        <p:spPr>
          <a:xfrm>
            <a:off x="685800" y="5588000"/>
            <a:ext cx="6766560" cy="39498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>
              <a:spcAft>
                <a:spcPts val="200"/>
              </a:spcAft>
            </a:pPr>
            <a:r>
              <a:rPr lang="fr-FR" sz="1200" dirty="0">
                <a:solidFill>
                  <a:srgbClr val="AAE5F5"/>
                </a:solidFill>
                <a:latin typeface="Aptos" panose="020B0004020202020204" pitchFamily="34" charset="0"/>
              </a:rPr>
              <a:t>Floryan BORNET · BRENDLE Corentin</a:t>
            </a:r>
          </a:p>
          <a:p>
            <a:pPr>
              <a:spcAft>
                <a:spcPts val="200"/>
              </a:spcAft>
            </a:pPr>
            <a:r>
              <a:rPr lang="fr-FR" sz="1200">
                <a:solidFill>
                  <a:srgbClr val="AAE5F5"/>
                </a:solidFill>
                <a:latin typeface="Aptos" panose="020B0004020202020204" pitchFamily="34" charset="0"/>
              </a:rPr>
              <a:t>Simon Bonnin · Valentin Viret-Jacquot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C6D8"/>
          </a:solidFill>
          <a:ln w="127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2C6D8"/>
                </a:solidFill>
              </a:rPr>
              <a:t>OBJECTIF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>
                <a:solidFill>
                  <a:srgbClr val="F6F8FB"/>
                </a:solidFill>
              </a:rPr>
              <a:t>Le projet répond directement aux cinq exercices du TP.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>
                <a:solidFill>
                  <a:srgbClr val="A9B8C9"/>
                </a:solidFill>
              </a:rPr>
              <a:t>La présentation suit la création, les droits et les restaurations.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20140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8C9"/>
                </a:solidFill>
              </a:rPr>
              <a:t>02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6419088"/>
            <a:ext cx="10378440" cy="0"/>
          </a:xfrm>
          <a:prstGeom prst="line">
            <a:avLst/>
          </a:prstGeom>
          <a:noFill/>
          <a:ln w="889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58368" y="20116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2C6D8"/>
                </a:solidFill>
              </a:rPr>
              <a:t>01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2423160"/>
            <a:ext cx="1783080" cy="0"/>
          </a:xfrm>
          <a:prstGeom prst="line">
            <a:avLst/>
          </a:prstGeom>
          <a:noFill/>
          <a:ln w="254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658368" y="2633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6F8FB"/>
                </a:solidFill>
              </a:rPr>
              <a:t>Créer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8368" y="312724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9B8C9"/>
                </a:solidFill>
              </a:rPr>
              <a:t>UTF-8 + collation française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468880" y="4407408"/>
            <a:ext cx="292608" cy="292608"/>
          </a:xfrm>
          <a:prstGeom prst="chevron">
            <a:avLst/>
          </a:prstGeom>
          <a:solidFill>
            <a:srgbClr val="39516D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926080" y="20116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3D7B0"/>
                </a:solidFill>
              </a:rPr>
              <a:t>02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26080" y="2423160"/>
            <a:ext cx="1783080" cy="0"/>
          </a:xfrm>
          <a:prstGeom prst="line">
            <a:avLst/>
          </a:prstGeom>
          <a:noFill/>
          <a:ln w="25400">
            <a:solidFill>
              <a:srgbClr val="73D7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926080" y="2633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6F8FB"/>
                </a:solidFill>
              </a:rPr>
              <a:t>Modéliser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926080" y="312724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9B8C9"/>
                </a:solidFill>
              </a:rPr>
              <a:t>Schéma normalisé BUT3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36592" y="4407408"/>
            <a:ext cx="292608" cy="292608"/>
          </a:xfrm>
          <a:prstGeom prst="chevron">
            <a:avLst/>
          </a:prstGeom>
          <a:solidFill>
            <a:srgbClr val="39516D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193792" y="20116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B35B"/>
                </a:solidFill>
              </a:rPr>
              <a:t>03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193792" y="2423160"/>
            <a:ext cx="1783080" cy="0"/>
          </a:xfrm>
          <a:prstGeom prst="line">
            <a:avLst/>
          </a:prstGeom>
          <a:noFill/>
          <a:ln w="25400">
            <a:solidFill>
              <a:srgbClr val="F0B3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193792" y="2633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6F8FB"/>
                </a:solidFill>
              </a:rPr>
              <a:t>Sécuriser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193792" y="312724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9B8C9"/>
                </a:solidFill>
              </a:rPr>
              <a:t>Droits minimaux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004304" y="4407408"/>
            <a:ext cx="292608" cy="292608"/>
          </a:xfrm>
          <a:prstGeom prst="chevron">
            <a:avLst/>
          </a:prstGeom>
          <a:solidFill>
            <a:srgbClr val="39516D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7461504" y="20116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7B79"/>
                </a:solidFill>
              </a:rPr>
              <a:t>04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61504" y="2423160"/>
            <a:ext cx="1783080" cy="0"/>
          </a:xfrm>
          <a:prstGeom prst="line">
            <a:avLst/>
          </a:prstGeom>
          <a:noFill/>
          <a:ln w="25400">
            <a:solidFill>
              <a:srgbClr val="EF7B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7461504" y="2633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6F8FB"/>
                </a:solidFill>
              </a:rPr>
              <a:t>Sauvegarder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461504" y="312724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9B8C9"/>
                </a:solidFill>
              </a:rPr>
              <a:t>SQL + format custom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272016" y="4407408"/>
            <a:ext cx="292608" cy="292608"/>
          </a:xfrm>
          <a:prstGeom prst="chevron">
            <a:avLst/>
          </a:prstGeom>
          <a:solidFill>
            <a:srgbClr val="39516D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9729216" y="20116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>
                <a:solidFill>
                  <a:srgbClr val="42C6D8"/>
                </a:solidFill>
              </a:rPr>
              <a:t>Un projet centré sur les cinq demandes du sujet.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729216" y="2423160"/>
            <a:ext cx="1783080" cy="0"/>
          </a:xfrm>
          <a:prstGeom prst="line">
            <a:avLst/>
          </a:prstGeom>
          <a:noFill/>
          <a:ln w="254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9729216" y="2633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6F8FB"/>
                </a:solidFill>
              </a:rPr>
              <a:t>Restaurer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729216" y="312724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9B8C9"/>
                </a:solidFill>
              </a:rPr>
              <a:t>Complète + ciblée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240280" y="525780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100" b="1">
                <a:solidFill>
                  <a:srgbClr val="F6F8FB"/>
                </a:solidFill>
              </a:rPr>
              <a:t>Un projet centré sur les cinq demandes du sujet.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C6D8"/>
          </a:solidFill>
          <a:ln w="127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>
                <a:solidFill>
                  <a:srgbClr val="42C6D8"/>
                </a:solidFill>
              </a:rPr>
              <a:t>EXERCICE 1 · MODÈLE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6F8FB"/>
                </a:solidFill>
              </a:rPr>
              <a:t>La normalisation sépare les élèves, les matières et les évaluations.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9B8C9"/>
                </a:solidFill>
              </a:rPr>
              <a:t>La table notes matérialise la relation plusieurs-à-plusieurs.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20140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8C9"/>
                </a:solidFill>
              </a:rPr>
              <a:t>03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6419088"/>
            <a:ext cx="10378440" cy="0"/>
          </a:xfrm>
          <a:prstGeom prst="line">
            <a:avLst/>
          </a:prstGeom>
          <a:noFill/>
          <a:ln w="889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85800" y="1993392"/>
            <a:ext cx="3063240" cy="3063240"/>
          </a:xfrm>
          <a:prstGeom prst="roundRect">
            <a:avLst>
              <a:gd name="adj" fmla="val 1791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85800" y="1993392"/>
            <a:ext cx="73152" cy="3063240"/>
          </a:xfrm>
          <a:prstGeom prst="rect">
            <a:avLst/>
          </a:prstGeom>
          <a:solidFill>
            <a:srgbClr val="42C6D8"/>
          </a:solidFill>
          <a:ln w="127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914400" y="21579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6F8FB"/>
                </a:solidFill>
              </a:rPr>
              <a:t>ETUDIANTS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2624328" cy="2331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50">
                <a:solidFill>
                  <a:srgbClr val="A9B8C9"/>
                </a:solidFill>
              </a:rPr>
              <a:t>id_etudiant  PK</a:t>
            </a:r>
          </a:p>
          <a:p>
            <a:r>
              <a:rPr lang="en-US" sz="1150">
                <a:solidFill>
                  <a:srgbClr val="A9B8C9"/>
                </a:solidFill>
              </a:rPr>
              <a:t>nom · prenom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0" y="1993392"/>
            <a:ext cx="3063240" cy="3063240"/>
          </a:xfrm>
          <a:prstGeom prst="roundRect">
            <a:avLst>
              <a:gd name="adj" fmla="val 1791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572000" y="1993392"/>
            <a:ext cx="73152" cy="3063240"/>
          </a:xfrm>
          <a:prstGeom prst="rect">
            <a:avLst/>
          </a:prstGeom>
          <a:solidFill>
            <a:srgbClr val="F0B35B"/>
          </a:solidFill>
          <a:ln w="12700">
            <a:solidFill>
              <a:srgbClr val="F0B3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800600" y="21579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6F8FB"/>
                </a:solidFill>
              </a:rPr>
              <a:t>NOTES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00600" y="2560320"/>
            <a:ext cx="2624328" cy="2331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50">
                <a:solidFill>
                  <a:srgbClr val="A9B8C9"/>
                </a:solidFill>
              </a:rPr>
              <a:t>id_note  PK</a:t>
            </a:r>
          </a:p>
          <a:p>
            <a:r>
              <a:rPr lang="en-US" sz="1150">
                <a:solidFill>
                  <a:srgbClr val="A9B8C9"/>
                </a:solidFill>
              </a:rPr>
              <a:t>id_etudiant  FK</a:t>
            </a:r>
          </a:p>
          <a:p>
            <a:r>
              <a:rPr lang="en-US" sz="1150">
                <a:solidFill>
                  <a:srgbClr val="A9B8C9"/>
                </a:solidFill>
              </a:rPr>
              <a:t>id_matiere  FK</a:t>
            </a:r>
          </a:p>
          <a:p>
            <a:r>
              <a:rPr lang="en-US" sz="1150">
                <a:solidFill>
                  <a:srgbClr val="A9B8C9"/>
                </a:solidFill>
              </a:rPr>
              <a:t>note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58200" y="1993392"/>
            <a:ext cx="3063240" cy="3063240"/>
          </a:xfrm>
          <a:prstGeom prst="roundRect">
            <a:avLst>
              <a:gd name="adj" fmla="val 1791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8458200" y="1993392"/>
            <a:ext cx="73152" cy="3063240"/>
          </a:xfrm>
          <a:prstGeom prst="rect">
            <a:avLst/>
          </a:prstGeom>
          <a:solidFill>
            <a:srgbClr val="73D7B0"/>
          </a:solidFill>
          <a:ln w="12700">
            <a:solidFill>
              <a:srgbClr val="73D7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8686800" y="21579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6F8FB"/>
                </a:solidFill>
              </a:rPr>
              <a:t>MATIERES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86800" y="2560320"/>
            <a:ext cx="2624328" cy="2331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50">
                <a:solidFill>
                  <a:srgbClr val="A9B8C9"/>
                </a:solidFill>
              </a:rPr>
              <a:t>id_matiere  PK</a:t>
            </a:r>
          </a:p>
          <a:p>
            <a:r>
              <a:rPr lang="en-US" sz="1150">
                <a:solidFill>
                  <a:srgbClr val="A9B8C9"/>
                </a:solidFill>
              </a:rPr>
              <a:t>libelle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886200" y="3246120"/>
            <a:ext cx="438912" cy="292608"/>
          </a:xfrm>
          <a:prstGeom prst="chevron">
            <a:avLst/>
          </a:prstGeom>
          <a:solidFill>
            <a:srgbClr val="42C6D8"/>
          </a:solidFill>
          <a:ln w="127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7772400" y="3246120"/>
            <a:ext cx="438912" cy="292608"/>
          </a:xfrm>
          <a:prstGeom prst="chevron">
            <a:avLst/>
          </a:prstGeom>
          <a:solidFill>
            <a:srgbClr val="73D7B0"/>
          </a:solidFill>
          <a:ln w="12700">
            <a:solidFill>
              <a:srgbClr val="73D7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114800" y="53218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EF7B79"/>
                </a:solidFill>
              </a:rPr>
              <a:t>CLÉS ÉTRANGÈRES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C6D8"/>
          </a:solidFill>
          <a:ln w="127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>
                <a:solidFill>
                  <a:srgbClr val="42C6D8"/>
                </a:solidFill>
              </a:rPr>
              <a:t>EXERCICE 1 · MULTILINGUE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>
                <a:solidFill>
                  <a:srgbClr val="F6F8FB"/>
                </a:solidFill>
              </a:rPr>
              <a:t>UTF-8 conserve les caractères ; la collation française permet de les trier.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>
                <a:solidFill>
                  <a:srgbClr val="A9B8C9"/>
                </a:solidFill>
              </a:rPr>
              <a:t>Résultat obtenu après ORDER BY nom 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20140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8C9"/>
                </a:solidFill>
              </a:rPr>
              <a:t>04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6419088"/>
            <a:ext cx="10378440" cy="0"/>
          </a:xfrm>
          <a:prstGeom prst="line">
            <a:avLst/>
          </a:prstGeom>
          <a:noFill/>
          <a:ln w="889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731520" y="1965960"/>
            <a:ext cx="4663440" cy="585216"/>
          </a:xfrm>
          <a:prstGeom prst="roundRect">
            <a:avLst>
              <a:gd name="adj" fmla="val 6250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932688" y="212140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42C6D8"/>
                </a:solidFill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81328" y="20756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6F8FB"/>
                </a:solidFill>
              </a:rPr>
              <a:t>Béranger  Léo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2752344"/>
            <a:ext cx="4663440" cy="585216"/>
          </a:xfrm>
          <a:prstGeom prst="roundRect">
            <a:avLst>
              <a:gd name="adj" fmla="val 6250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932688" y="29077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73D7B0"/>
                </a:solidFill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481328" y="28620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6F8FB"/>
                </a:solidFill>
              </a:rPr>
              <a:t>Çağlar  Émile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538728"/>
            <a:ext cx="4663440" cy="585216"/>
          </a:xfrm>
          <a:prstGeom prst="roundRect">
            <a:avLst>
              <a:gd name="adj" fmla="val 6250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932688" y="36941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F0B35B"/>
                </a:solidFill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481328" y="3648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6F8FB"/>
                </a:solidFill>
              </a:rPr>
              <a:t>Durand  Zoé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31520" y="4325112"/>
            <a:ext cx="4663440" cy="585216"/>
          </a:xfrm>
          <a:prstGeom prst="roundRect">
            <a:avLst>
              <a:gd name="adj" fmla="val 6250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932688" y="448056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EF7B79"/>
                </a:solidFill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481328" y="4434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6F8FB"/>
                </a:solidFill>
              </a:rPr>
              <a:t>Évrard  Chloé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080760" y="1965960"/>
            <a:ext cx="5303520" cy="3401568"/>
          </a:xfrm>
          <a:prstGeom prst="roundRect">
            <a:avLst>
              <a:gd name="adj" fmla="val 1613"/>
            </a:avLst>
          </a:prstGeom>
          <a:solidFill>
            <a:srgbClr val="0B1422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446520" y="2359152"/>
            <a:ext cx="45720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3D7B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CREATE DATABASE multi_lang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73D7B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ENCODING = 'UTF8'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73D7B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LOCALE_PROVIDER = icu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73D7B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ICU_LOCALE = 'fr-FR';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46520" y="4251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2C6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SORTIE</a:t>
            </a:r>
          </a:p>
          <a:p>
            <a:pPr marL="0" indent="0">
              <a:buNone/>
            </a:pPr>
            <a:r>
              <a:rPr lang="en-US" sz="1200">
                <a:solidFill>
                  <a:srgbClr val="42C6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Béranger  Léo</a:t>
            </a:r>
          </a:p>
          <a:p>
            <a:pPr marL="0" indent="0">
              <a:buNone/>
            </a:pPr>
            <a:r>
              <a:rPr lang="en-US" sz="1200">
                <a:solidFill>
                  <a:srgbClr val="42C6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Çağlar    Émile</a:t>
            </a:r>
          </a:p>
          <a:p>
            <a:pPr marL="0" indent="0">
              <a:buNone/>
            </a:pPr>
            <a:r>
              <a:rPr lang="en-US" sz="1200">
                <a:solidFill>
                  <a:srgbClr val="42C6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Durand    Zoé</a:t>
            </a:r>
          </a:p>
          <a:p>
            <a:pPr marL="0" indent="0">
              <a:buNone/>
            </a:pPr>
            <a:r>
              <a:rPr lang="en-US" sz="1200">
                <a:solidFill>
                  <a:srgbClr val="42C6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Évrard    Chloé</a:t>
            </a:r>
          </a:p>
          <a:p>
            <a:pPr marL="0" indent="0">
              <a:buNone/>
            </a:pPr>
            <a:r>
              <a:rPr lang="en-US" sz="1200">
                <a:solidFill>
                  <a:srgbClr val="42C6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Noël      Anaïs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4892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50">
                <a:solidFill>
                  <a:srgbClr val="A9B8C9"/>
                </a:solidFill>
              </a:rPr>
              <a:t>5 lignes retournées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C6D8"/>
          </a:solidFill>
          <a:ln w="127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>
                <a:solidFill>
                  <a:srgbClr val="42C6D8"/>
                </a:solidFill>
              </a:rPr>
              <a:t>EXERCICES 2–3 · SÉCURITÉ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6F8FB"/>
                </a:solidFill>
              </a:rPr>
              <a:t>Le principe du moindre privilège limite readonly_user à une seule action.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>
                <a:solidFill>
                  <a:srgbClr val="A9B8C9"/>
                </a:solidFill>
              </a:rPr>
              <a:t>Résultat obtenu : readonly_user peut lire notes, sans pouvoir modifier les données.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20140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8C9"/>
                </a:solidFill>
              </a:rPr>
              <a:t>05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6419088"/>
            <a:ext cx="10378440" cy="0"/>
          </a:xfrm>
          <a:prstGeom prst="line">
            <a:avLst/>
          </a:prstGeom>
          <a:noFill/>
          <a:ln w="889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914400" y="19385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A9B8C9"/>
                </a:solidFill>
              </a:rPr>
              <a:t>DROIT TESTÉ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1938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0B35B"/>
                </a:solidFill>
              </a:rPr>
              <a:t>admin_user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0" y="1938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42C6D8"/>
                </a:solidFill>
              </a:rPr>
              <a:t>readonly_user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68680" y="2935224"/>
            <a:ext cx="9784080" cy="0"/>
          </a:xfrm>
          <a:prstGeom prst="line">
            <a:avLst/>
          </a:prstGeom>
          <a:noFill/>
          <a:ln w="1016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914400" y="2423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6F8FB"/>
                </a:solidFill>
              </a:rPr>
              <a:t>CONNECT multi_lang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172200" y="238658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3D7B0"/>
                </a:solidFill>
              </a:rPr>
              <a:t>✓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0" y="238658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3D7B0"/>
                </a:solidFill>
              </a:rPr>
              <a:t>✓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68680" y="3648456"/>
            <a:ext cx="9784080" cy="0"/>
          </a:xfrm>
          <a:prstGeom prst="line">
            <a:avLst/>
          </a:prstGeom>
          <a:noFill/>
          <a:ln w="1016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914400" y="31363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6F8FB"/>
                </a:solidFill>
              </a:rPr>
              <a:t>SELECT notes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72200" y="309981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3D7B0"/>
                </a:solidFill>
              </a:rPr>
              <a:t>✓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869680" y="309981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3D7B0"/>
                </a:solidFill>
              </a:rPr>
              <a:t>✓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68680" y="4361688"/>
            <a:ext cx="9784080" cy="0"/>
          </a:xfrm>
          <a:prstGeom prst="line">
            <a:avLst/>
          </a:prstGeom>
          <a:noFill/>
          <a:ln w="1016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914400" y="384962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6F8FB"/>
                </a:solidFill>
              </a:rPr>
              <a:t>INSERT notes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172200" y="38130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3D7B0"/>
                </a:solidFill>
              </a:rPr>
              <a:t>✓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869680" y="38130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7B79"/>
                </a:solidFill>
              </a:rPr>
              <a:t>×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68680" y="5074920"/>
            <a:ext cx="9784080" cy="0"/>
          </a:xfrm>
          <a:prstGeom prst="line">
            <a:avLst/>
          </a:prstGeom>
          <a:noFill/>
          <a:ln w="1016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914400" y="45628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6F8FB"/>
                </a:solidFill>
              </a:rPr>
              <a:t>SELECT etudiants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72200" y="45262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3D7B0"/>
                </a:solidFill>
              </a:rPr>
              <a:t>✓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0" y="45262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7B79"/>
                </a:solidFill>
              </a:rPr>
              <a:t>×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926080" y="557784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>
                <a:solidFill>
                  <a:srgbClr val="42C6D8"/>
                </a:solidFill>
              </a:rPr>
              <a:t>Sortie : SELECT notes = true · INSERT notes = false · SELECT etudiants = false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C6D8"/>
          </a:solidFill>
          <a:ln w="127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>
                <a:solidFill>
                  <a:srgbClr val="42C6D8"/>
                </a:solidFill>
              </a:rPr>
              <a:t>EXERCICE 4 · SAUVEGARDE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>
                <a:solidFill>
                  <a:srgbClr val="F6F8FB"/>
                </a:solidFill>
              </a:rPr>
              <a:t>Le fichier SQL permet de sauvegarder puis restaurer toute la base.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>
                <a:solidFill>
                  <a:srgbClr val="A9B8C9"/>
                </a:solidFill>
              </a:rPr>
              <a:t>La sauvegarde est restaurée dans la nouvelle base BUT3_backup.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20140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8C9"/>
                </a:solidFill>
              </a:rPr>
              <a:t>06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6419088"/>
            <a:ext cx="10378440" cy="0"/>
          </a:xfrm>
          <a:prstGeom prst="line">
            <a:avLst/>
          </a:prstGeom>
          <a:noFill/>
          <a:ln w="889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731520" y="1993392"/>
            <a:ext cx="3246120" cy="3108960"/>
          </a:xfrm>
          <a:prstGeom prst="roundRect">
            <a:avLst>
              <a:gd name="adj" fmla="val 1765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731520" y="1993392"/>
            <a:ext cx="73152" cy="3108960"/>
          </a:xfrm>
          <a:prstGeom prst="rect">
            <a:avLst/>
          </a:prstGeom>
          <a:solidFill>
            <a:srgbClr val="42C6D8"/>
          </a:solidFill>
          <a:ln w="127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960120" y="21579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6F8FB"/>
                </a:solidFill>
              </a:rPr>
              <a:t>multi_lang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560320"/>
            <a:ext cx="2807208" cy="2377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fr-FR" sz="1150">
                <a:solidFill>
                  <a:srgbClr val="A9B8C9"/>
                </a:solidFill>
              </a:rPr>
              <a:t>Base source</a:t>
            </a:r>
          </a:p>
          <a:p>
            <a:r>
              <a:rPr lang="fr-FR" sz="1150">
                <a:solidFill>
                  <a:srgbClr val="A9B8C9"/>
                </a:solidFill>
              </a:rPr>
              <a:t>5 étudiants</a:t>
            </a:r>
          </a:p>
          <a:p>
            <a:r>
              <a:rPr lang="fr-FR" sz="1150">
                <a:solidFill>
                  <a:srgbClr val="A9B8C9"/>
                </a:solidFill>
              </a:rPr>
              <a:t>4 matières</a:t>
            </a:r>
          </a:p>
          <a:p>
            <a:r>
              <a:rPr lang="fr-FR" sz="1150">
                <a:solidFill>
                  <a:srgbClr val="A9B8C9"/>
                </a:solidFill>
              </a:rPr>
              <a:t>6 notes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24528" y="2578608"/>
            <a:ext cx="566928" cy="292608"/>
          </a:xfrm>
          <a:prstGeom prst="chevron">
            <a:avLst/>
          </a:prstGeom>
          <a:solidFill>
            <a:srgbClr val="73D7B0"/>
          </a:solidFill>
          <a:ln w="12700">
            <a:solidFill>
              <a:srgbClr val="73D7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224528" y="4160520"/>
            <a:ext cx="566928" cy="292608"/>
          </a:xfrm>
          <a:prstGeom prst="chevron">
            <a:avLst/>
          </a:prstGeom>
          <a:solidFill>
            <a:srgbClr val="F0B35B"/>
          </a:solidFill>
          <a:ln w="12700">
            <a:solidFill>
              <a:srgbClr val="F0B3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5074920" y="1874520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5074920" y="1874520"/>
            <a:ext cx="73152" cy="1481328"/>
          </a:xfrm>
          <a:prstGeom prst="rect">
            <a:avLst/>
          </a:prstGeom>
          <a:solidFill>
            <a:srgbClr val="73D7B0"/>
          </a:solidFill>
          <a:ln w="12700">
            <a:solidFill>
              <a:srgbClr val="73D7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303520" y="20391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6F8FB"/>
                </a:solidFill>
              </a:rPr>
              <a:t>multi_lang.sql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03520" y="2441448"/>
            <a:ext cx="2304288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fr-FR" sz="1150">
                <a:solidFill>
                  <a:srgbClr val="A9B8C9"/>
                </a:solidFill>
              </a:rPr>
              <a:t>Sauvegarde avec pg_dump</a:t>
            </a:r>
          </a:p>
          <a:p>
            <a:r>
              <a:rPr lang="fr-FR" sz="1150">
                <a:solidFill>
                  <a:srgbClr val="A9B8C9"/>
                </a:solidFill>
              </a:rPr>
              <a:t>Fichier SQL complet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74920" y="3730752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5074920" y="3730752"/>
            <a:ext cx="73152" cy="1481328"/>
          </a:xfrm>
          <a:prstGeom prst="rect">
            <a:avLst/>
          </a:prstGeom>
          <a:solidFill>
            <a:srgbClr val="F0B35B"/>
          </a:solidFill>
          <a:ln w="12700">
            <a:solidFill>
              <a:srgbClr val="F0B3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303520" y="389534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6F8FB"/>
                </a:solidFill>
              </a:rPr>
              <a:t>Restauration SQL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303520" y="4297680"/>
            <a:ext cx="2304288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50">
                <a:solidFill>
                  <a:srgbClr val="A9B8C9"/>
                </a:solidFill>
              </a:rPr>
              <a:t>createdb BUT3_backup</a:t>
            </a:r>
          </a:p>
          <a:p>
            <a:r>
              <a:rPr lang="en-US" sz="1150">
                <a:solidFill>
                  <a:srgbClr val="A9B8C9"/>
                </a:solidFill>
              </a:rPr>
              <a:t>psql -d BUT3_backup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19872" y="2578608"/>
            <a:ext cx="566928" cy="292608"/>
          </a:xfrm>
          <a:prstGeom prst="chevron">
            <a:avLst/>
          </a:prstGeom>
          <a:solidFill>
            <a:srgbClr val="73D7B0"/>
          </a:solidFill>
          <a:ln w="12700">
            <a:solidFill>
              <a:srgbClr val="73D7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8119872" y="4160520"/>
            <a:ext cx="566928" cy="292608"/>
          </a:xfrm>
          <a:prstGeom prst="chevron">
            <a:avLst/>
          </a:prstGeom>
          <a:solidFill>
            <a:srgbClr val="F0B35B"/>
          </a:solidFill>
          <a:ln w="12700">
            <a:solidFill>
              <a:srgbClr val="F0B3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8979408" y="1993392"/>
            <a:ext cx="2468880" cy="3108960"/>
          </a:xfrm>
          <a:prstGeom prst="roundRect">
            <a:avLst>
              <a:gd name="adj" fmla="val 2222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8979408" y="1993392"/>
            <a:ext cx="73152" cy="3108960"/>
          </a:xfrm>
          <a:prstGeom prst="rect">
            <a:avLst/>
          </a:prstGeom>
          <a:solidFill>
            <a:srgbClr val="EF7B79"/>
          </a:solidFill>
          <a:ln w="12700">
            <a:solidFill>
              <a:srgbClr val="EF7B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9208008" y="215798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6F8FB"/>
                </a:solidFill>
              </a:rPr>
              <a:t>BUT3_backup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208008" y="2560320"/>
            <a:ext cx="2029968" cy="2377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fr-FR" sz="1150">
                <a:solidFill>
                  <a:srgbClr val="A9B8C9"/>
                </a:solidFill>
              </a:rPr>
              <a:t>Résultat obtenu</a:t>
            </a:r>
          </a:p>
          <a:p>
            <a:endParaRPr lang="fr-FR" sz="1150">
              <a:solidFill>
                <a:srgbClr val="A9B8C9"/>
              </a:solidFill>
            </a:endParaRPr>
          </a:p>
          <a:p>
            <a:r>
              <a:rPr lang="fr-FR" sz="1150">
                <a:solidFill>
                  <a:srgbClr val="A9B8C9"/>
                </a:solidFill>
              </a:rPr>
              <a:t>etudiants</a:t>
            </a:r>
          </a:p>
          <a:p>
            <a:r>
              <a:rPr lang="fr-FR" sz="1150">
                <a:solidFill>
                  <a:srgbClr val="A9B8C9"/>
                </a:solidFill>
              </a:rPr>
              <a:t>matieres</a:t>
            </a:r>
          </a:p>
          <a:p>
            <a:r>
              <a:rPr lang="fr-FR" sz="1150">
                <a:solidFill>
                  <a:srgbClr val="A9B8C9"/>
                </a:solidFill>
              </a:rPr>
              <a:t>notes</a:t>
            </a:r>
          </a:p>
          <a:p>
            <a:endParaRPr lang="fr-FR" sz="1150">
              <a:solidFill>
                <a:srgbClr val="A9B8C9"/>
              </a:solidFill>
            </a:endParaRPr>
          </a:p>
          <a:p>
            <a:r>
              <a:rPr lang="fr-FR" sz="1150">
                <a:solidFill>
                  <a:srgbClr val="A9B8C9"/>
                </a:solidFill>
              </a:rPr>
              <a:t>3 tables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46120" y="5596128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>
                <a:solidFill>
                  <a:srgbClr val="A9B8C9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Sortie dans BUT3_backup : etudiants · matieres · notes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C6D8"/>
          </a:solidFill>
          <a:ln w="127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>
                <a:solidFill>
                  <a:srgbClr val="42C6D8"/>
                </a:solidFill>
              </a:rPr>
              <a:t>EXERCICE 5 · RESTAURATION CIBLÉE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>
                <a:solidFill>
                  <a:srgbClr val="F6F8FB"/>
                </a:solidFill>
              </a:rPr>
              <a:t>Le dump ciblé permet de restaurer uniquement la table etudiants.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>
                <a:solidFill>
                  <a:srgbClr val="A9B8C9"/>
                </a:solidFill>
              </a:rPr>
              <a:t>La restauration est effectuée dans une base vide.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20140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8C9"/>
                </a:solidFill>
              </a:rPr>
              <a:t>07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6419088"/>
            <a:ext cx="10378440" cy="0"/>
          </a:xfrm>
          <a:prstGeom prst="line">
            <a:avLst/>
          </a:prstGeom>
          <a:noFill/>
          <a:ln w="889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731520" y="2057400"/>
            <a:ext cx="2880360" cy="2971800"/>
          </a:xfrm>
          <a:prstGeom prst="roundRect">
            <a:avLst>
              <a:gd name="adj" fmla="val 1905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731520" y="2057400"/>
            <a:ext cx="73152" cy="2971800"/>
          </a:xfrm>
          <a:prstGeom prst="rect">
            <a:avLst/>
          </a:prstGeom>
          <a:solidFill>
            <a:srgbClr val="42C6D8"/>
          </a:solidFill>
          <a:ln w="127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960120" y="22219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6F8FB"/>
                </a:solidFill>
              </a:rPr>
              <a:t>Dump ciblé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624328"/>
            <a:ext cx="2441448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fr-FR" sz="1150">
                <a:solidFill>
                  <a:srgbClr val="A9B8C9"/>
                </a:solidFill>
              </a:rPr>
              <a:t>pg_dump -Fc</a:t>
            </a:r>
          </a:p>
          <a:p>
            <a:r>
              <a:rPr lang="fr-FR" sz="1150">
                <a:solidFill>
                  <a:srgbClr val="A9B8C9"/>
                </a:solidFill>
              </a:rPr>
              <a:t>-t etudiants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886200" y="3273552"/>
            <a:ext cx="658368" cy="292608"/>
          </a:xfrm>
          <a:prstGeom prst="chevron">
            <a:avLst/>
          </a:prstGeom>
          <a:solidFill>
            <a:srgbClr val="42C6D8"/>
          </a:solidFill>
          <a:ln w="127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828032" y="1901952"/>
            <a:ext cx="2743200" cy="3291840"/>
          </a:xfrm>
          <a:prstGeom prst="roundRect">
            <a:avLst>
              <a:gd name="adj" fmla="val 2000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828032" y="1901952"/>
            <a:ext cx="73152" cy="3291840"/>
          </a:xfrm>
          <a:prstGeom prst="rect">
            <a:avLst/>
          </a:prstGeom>
          <a:solidFill>
            <a:srgbClr val="73D7B0"/>
          </a:solidFill>
          <a:ln w="12700">
            <a:solidFill>
              <a:srgbClr val="73D7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5056632" y="206654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6F8FB"/>
                </a:solidFill>
              </a:rPr>
              <a:t>Résultat obtenu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56632" y="2468880"/>
            <a:ext cx="2304288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fr-FR" sz="1150">
                <a:solidFill>
                  <a:srgbClr val="A9B8C9"/>
                </a:solidFill>
              </a:rPr>
              <a:t>tablename</a:t>
            </a:r>
          </a:p>
          <a:p>
            <a:r>
              <a:rPr lang="fr-FR" sz="1150">
                <a:solidFill>
                  <a:srgbClr val="A9B8C9"/>
                </a:solidFill>
              </a:rPr>
              <a:t>────────</a:t>
            </a:r>
          </a:p>
          <a:p>
            <a:r>
              <a:rPr lang="fr-FR" sz="1150">
                <a:solidFill>
                  <a:srgbClr val="A9B8C9"/>
                </a:solidFill>
              </a:rPr>
              <a:t>etudiants</a:t>
            </a:r>
          </a:p>
          <a:p>
            <a:endParaRPr lang="fr-FR" sz="1150">
              <a:solidFill>
                <a:srgbClr val="A9B8C9"/>
              </a:solidFill>
            </a:endParaRPr>
          </a:p>
          <a:p>
            <a:r>
              <a:rPr lang="fr-FR" sz="1150">
                <a:solidFill>
                  <a:srgbClr val="A9B8C9"/>
                </a:solidFill>
              </a:rPr>
              <a:t>nombre_etudiants</a:t>
            </a:r>
          </a:p>
          <a:p>
            <a:r>
              <a:rPr lang="fr-FR" sz="1150">
                <a:solidFill>
                  <a:srgbClr val="A9B8C9"/>
                </a:solidFill>
              </a:rPr>
              <a:t>5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45552" y="3273552"/>
            <a:ext cx="658368" cy="292608"/>
          </a:xfrm>
          <a:prstGeom prst="chevron">
            <a:avLst/>
          </a:prstGeom>
          <a:solidFill>
            <a:srgbClr val="73D7B0"/>
          </a:solidFill>
          <a:ln w="12700">
            <a:solidFill>
              <a:srgbClr val="73D7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8796528" y="2057400"/>
            <a:ext cx="2606040" cy="2971800"/>
          </a:xfrm>
          <a:prstGeom prst="roundRect">
            <a:avLst>
              <a:gd name="adj" fmla="val 2105"/>
            </a:avLst>
          </a:prstGeom>
          <a:solidFill>
            <a:srgbClr val="1D304A"/>
          </a:solidFill>
          <a:ln w="1270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8796528" y="2057400"/>
            <a:ext cx="73152" cy="2971800"/>
          </a:xfrm>
          <a:prstGeom prst="rect">
            <a:avLst/>
          </a:prstGeom>
          <a:solidFill>
            <a:srgbClr val="F0B35B"/>
          </a:solidFill>
          <a:ln w="12700">
            <a:solidFill>
              <a:srgbClr val="F0B3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9025128" y="22219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6F8FB"/>
                </a:solidFill>
              </a:rPr>
              <a:t>Base vide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025128" y="2624328"/>
            <a:ext cx="2167128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fr-FR" sz="1150">
                <a:solidFill>
                  <a:srgbClr val="A9B8C9"/>
                </a:solidFill>
              </a:rPr>
              <a:t>BUT3_etudiants_only</a:t>
            </a:r>
          </a:p>
          <a:p>
            <a:endParaRPr lang="fr-FR" sz="1150">
              <a:solidFill>
                <a:srgbClr val="A9B8C9"/>
              </a:solidFill>
            </a:endParaRPr>
          </a:p>
          <a:p>
            <a:r>
              <a:rPr lang="fr-FR" sz="1150">
                <a:solidFill>
                  <a:srgbClr val="A9B8C9"/>
                </a:solidFill>
              </a:rPr>
              <a:t>1 table présente</a:t>
            </a:r>
          </a:p>
          <a:p>
            <a:r>
              <a:rPr lang="fr-FR" sz="1150">
                <a:solidFill>
                  <a:srgbClr val="A9B8C9"/>
                </a:solidFill>
              </a:rPr>
              <a:t>5 lignes restaurées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971800" y="559612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>
                <a:solidFill>
                  <a:srgbClr val="EF7B79"/>
                </a:solidFill>
              </a:rPr>
              <a:t>Sortie : etudiants uniquement · 5 lignes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C6D8"/>
          </a:solidFill>
          <a:ln w="1270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>
                <a:solidFill>
                  <a:srgbClr val="42C6D8"/>
                </a:solidFill>
              </a:rPr>
              <a:t>DÉMONSTRATION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>
                <a:solidFill>
                  <a:srgbClr val="F6F8FB"/>
                </a:solidFill>
              </a:rPr>
              <a:t>Les résultats concrets permettent de présenter le projet.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>
                <a:solidFill>
                  <a:srgbClr val="A9B8C9"/>
                </a:solidFill>
              </a:rPr>
              <a:t>Chaque résultat correspond directement à une demande du TP.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20140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8C9"/>
                </a:solidFill>
              </a:rPr>
              <a:t>08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6419088"/>
            <a:ext cx="10378440" cy="0"/>
          </a:xfrm>
          <a:prstGeom prst="line">
            <a:avLst/>
          </a:prstGeom>
          <a:noFill/>
          <a:ln w="889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777240" y="2331720"/>
            <a:ext cx="6583680" cy="0"/>
          </a:xfrm>
          <a:prstGeom prst="line">
            <a:avLst/>
          </a:prstGeom>
          <a:noFill/>
          <a:ln w="1016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F6F8FB"/>
                </a:solidFill>
              </a:rPr>
              <a:t>Tri français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80760" y="18745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42C6D8"/>
                </a:solidFill>
              </a:rPr>
              <a:t>Noms accentués classés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953512"/>
            <a:ext cx="6583680" cy="0"/>
          </a:xfrm>
          <a:prstGeom prst="line">
            <a:avLst/>
          </a:prstGeom>
          <a:noFill/>
          <a:ln w="1016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914400" y="24963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F6F8FB"/>
                </a:solidFill>
              </a:rPr>
              <a:t>Lecture seule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80760" y="24963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73D7B0"/>
                </a:solidFill>
              </a:rPr>
              <a:t>SELECT notes autorisé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575304"/>
            <a:ext cx="6583680" cy="0"/>
          </a:xfrm>
          <a:prstGeom prst="line">
            <a:avLst/>
          </a:prstGeom>
          <a:noFill/>
          <a:ln w="1016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914400" y="311810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F6F8FB"/>
                </a:solidFill>
              </a:rPr>
              <a:t>Droits limités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80760" y="31181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0B35B"/>
                </a:solidFill>
              </a:rPr>
              <a:t>INSERT notes refusé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4197096"/>
            <a:ext cx="6583680" cy="0"/>
          </a:xfrm>
          <a:prstGeom prst="line">
            <a:avLst/>
          </a:prstGeom>
          <a:noFill/>
          <a:ln w="1016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914400" y="373989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F6F8FB"/>
                </a:solidFill>
              </a:rPr>
              <a:t>Restauration complète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080760" y="373989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EF7B79"/>
                </a:solidFill>
              </a:rPr>
              <a:t>BUT3_backup : 3 tables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4818888"/>
            <a:ext cx="6583680" cy="0"/>
          </a:xfrm>
          <a:prstGeom prst="line">
            <a:avLst/>
          </a:prstGeom>
          <a:noFill/>
          <a:ln w="10160">
            <a:solidFill>
              <a:srgbClr val="3951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914400" y="436168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F6F8FB"/>
                </a:solidFill>
              </a:rPr>
              <a:t>Restauration ciblée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080760" y="43616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42C6D8"/>
                </a:solidFill>
              </a:rPr>
              <a:t>Uniquement etudiants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909560" y="1874520"/>
            <a:ext cx="3383280" cy="3474720"/>
          </a:xfrm>
          <a:prstGeom prst="roundRect">
            <a:avLst>
              <a:gd name="adj" fmla="val 2162"/>
            </a:avLst>
          </a:prstGeom>
          <a:solidFill>
            <a:srgbClr val="1D304A"/>
          </a:solidFill>
          <a:ln w="19050">
            <a:solidFill>
              <a:srgbClr val="42C6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8275320" y="22677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42C6D8"/>
                </a:solidFill>
              </a:rPr>
              <a:t>À retenir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02752" y="2880360"/>
            <a:ext cx="2606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fr-FR" sz="1600" b="1">
                <a:solidFill>
                  <a:srgbClr val="F6F8FB"/>
                </a:solidFill>
              </a:rPr>
              <a:t>La base est multilingue,</a:t>
            </a:r>
          </a:p>
          <a:p>
            <a:pPr marL="0" indent="0" algn="ctr">
              <a:buNone/>
            </a:pPr>
            <a:r>
              <a:rPr lang="fr-FR" sz="1600" b="1">
                <a:solidFill>
                  <a:srgbClr val="F6F8FB"/>
                </a:solidFill>
              </a:rPr>
              <a:t>normalisée et sécurisée.</a:t>
            </a:r>
          </a:p>
          <a:p>
            <a:pPr marL="0" indent="0" algn="ctr">
              <a:buNone/>
            </a:pPr>
            <a:endParaRPr lang="fr-FR" sz="1600" b="1">
              <a:solidFill>
                <a:srgbClr val="F6F8FB"/>
              </a:solidFill>
            </a:endParaRPr>
          </a:p>
          <a:p>
            <a:pPr marL="0" indent="0" algn="ctr">
              <a:buNone/>
            </a:pPr>
            <a:r>
              <a:rPr lang="fr-FR" sz="1600" b="1">
                <a:solidFill>
                  <a:srgbClr val="F6F8FB"/>
                </a:solidFill>
              </a:rPr>
              <a:t>Les deux restaurations</a:t>
            </a:r>
          </a:p>
          <a:p>
            <a:pPr marL="0" indent="0" algn="ctr">
              <a:buNone/>
            </a:pPr>
            <a:r>
              <a:rPr lang="fr-FR" sz="1600" b="1">
                <a:solidFill>
                  <a:srgbClr val="F6F8FB"/>
                </a:solidFill>
              </a:rPr>
              <a:t>répondent aux besoins</a:t>
            </a:r>
          </a:p>
          <a:p>
            <a:pPr marL="0" indent="0" algn="ctr">
              <a:buNone/>
            </a:pPr>
            <a:r>
              <a:rPr lang="fr-FR" sz="1600" b="1">
                <a:solidFill>
                  <a:srgbClr val="F6F8FB"/>
                </a:solidFill>
              </a:rPr>
              <a:t>du sujet.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14400" y="56235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50">
                <a:solidFill>
                  <a:srgbClr val="A9B8C9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Présentation : création → droits → sauvegardes → restaurations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564</Words>
  <Application>Microsoft Office PowerPoint</Application>
  <PresentationFormat>Grand écran</PresentationFormat>
  <Paragraphs>170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Arial</vt:lpstr>
      <vt:lpstr>Cascadia Mono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BUT3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Administration d'une base PostgreSQL multilingue</dc:title>
  <dc:subject>TP PostgreSQL - Base multilingue</dc:subject>
  <dc:creator>Floryan Bornet</dc:creator>
  <cp:lastModifiedBy>floryan bornet</cp:lastModifiedBy>
  <cp:revision>13</cp:revision>
  <dcterms:created xsi:type="dcterms:W3CDTF">2026-06-13T22:19:46Z</dcterms:created>
  <dcterms:modified xsi:type="dcterms:W3CDTF">2026-06-14T09:06:02Z</dcterms:modified>
</cp:coreProperties>
</file>